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ed Hat Display" charset="1" panose="02010503040201060303"/>
      <p:regular r:id="rId16"/>
    </p:embeddedFont>
    <p:embeddedFont>
      <p:font typeface="Red Hat Display Bold" charset="1" panose="020108030402010603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9.png" Type="http://schemas.openxmlformats.org/officeDocument/2006/relationships/image"/><Relationship Id="rId13" Target="../media/image10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60629" y="-2095015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4" y="0"/>
                </a:lnTo>
                <a:lnTo>
                  <a:pt x="10960234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68185" y="2136222"/>
            <a:ext cx="6925852" cy="6014556"/>
          </a:xfrm>
          <a:custGeom>
            <a:avLst/>
            <a:gdLst/>
            <a:ahLst/>
            <a:cxnLst/>
            <a:rect r="r" b="b" t="t" l="l"/>
            <a:pathLst>
              <a:path h="6014556" w="6925852">
                <a:moveTo>
                  <a:pt x="0" y="0"/>
                </a:moveTo>
                <a:lnTo>
                  <a:pt x="6925852" y="0"/>
                </a:lnTo>
                <a:lnTo>
                  <a:pt x="6925852" y="6014556"/>
                </a:lnTo>
                <a:lnTo>
                  <a:pt x="0" y="60145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635325">
            <a:off x="-1336143" y="6923321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26878">
            <a:off x="-216283" y="847655"/>
            <a:ext cx="4576141" cy="2579280"/>
          </a:xfrm>
          <a:custGeom>
            <a:avLst/>
            <a:gdLst/>
            <a:ahLst/>
            <a:cxnLst/>
            <a:rect r="r" b="b" t="t" l="l"/>
            <a:pathLst>
              <a:path h="2579280" w="4576141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830696">
            <a:off x="12315724" y="82296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688416" y="5559372"/>
            <a:ext cx="7072212" cy="259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 Data A</a:t>
            </a:r>
            <a:r>
              <a:rPr lang="en-US" sz="2976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nalysis &amp; Machine Learning Project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Prepared by: Abdulwahab Almutlak</a:t>
            </a:r>
          </a:p>
          <a:p>
            <a:pPr algn="l">
              <a:lnSpc>
                <a:spcPts val="4166"/>
              </a:lnSpc>
            </a:pPr>
            <a:r>
              <a:rPr lang="en-US" sz="2976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Date: 2025</a:t>
            </a:r>
          </a:p>
          <a:p>
            <a:pPr algn="l">
              <a:lnSpc>
                <a:spcPts val="4166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76681" y="3484147"/>
            <a:ext cx="8839485" cy="1659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3"/>
              </a:lnSpc>
            </a:pPr>
            <a:r>
              <a:rPr lang="en-US" b="true" sz="5300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Coffee </a:t>
            </a:r>
            <a:r>
              <a:rPr lang="en-US" b="true" sz="5300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Shop Sales Analysis &amp; Revenue Prediction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77653" y="1921026"/>
            <a:ext cx="8994142" cy="1119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45"/>
              </a:lnSpc>
            </a:pPr>
            <a:r>
              <a:rPr lang="en-US" b="true" sz="65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Overview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703844" y="4415648"/>
            <a:ext cx="4250716" cy="3290811"/>
            <a:chOff x="0" y="0"/>
            <a:chExt cx="1119530" cy="8667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19530" cy="866716"/>
            </a:xfrm>
            <a:custGeom>
              <a:avLst/>
              <a:gdLst/>
              <a:ahLst/>
              <a:cxnLst/>
              <a:rect r="r" b="b" t="t" l="l"/>
              <a:pathLst>
                <a:path h="866716" w="1119530">
                  <a:moveTo>
                    <a:pt x="54640" y="0"/>
                  </a:moveTo>
                  <a:lnTo>
                    <a:pt x="1064890" y="0"/>
                  </a:lnTo>
                  <a:cubicBezTo>
                    <a:pt x="1095067" y="0"/>
                    <a:pt x="1119530" y="24463"/>
                    <a:pt x="1119530" y="54640"/>
                  </a:cubicBezTo>
                  <a:lnTo>
                    <a:pt x="1119530" y="812076"/>
                  </a:lnTo>
                  <a:cubicBezTo>
                    <a:pt x="1119530" y="842253"/>
                    <a:pt x="1095067" y="866716"/>
                    <a:pt x="1064890" y="866716"/>
                  </a:cubicBezTo>
                  <a:lnTo>
                    <a:pt x="54640" y="866716"/>
                  </a:lnTo>
                  <a:cubicBezTo>
                    <a:pt x="24463" y="866716"/>
                    <a:pt x="0" y="842253"/>
                    <a:pt x="0" y="812076"/>
                  </a:cubicBezTo>
                  <a:lnTo>
                    <a:pt x="0" y="54640"/>
                  </a:lnTo>
                  <a:cubicBezTo>
                    <a:pt x="0" y="24463"/>
                    <a:pt x="24463" y="0"/>
                    <a:pt x="54640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19530" cy="91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561139" y="3522789"/>
            <a:ext cx="350304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BFCF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25941" y="4699212"/>
            <a:ext cx="3939431" cy="2040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1"/>
              </a:lnSpc>
            </a:pPr>
            <a:r>
              <a:rPr lang="en-US" sz="2915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This project analyzes over 149,000 coffee shop transactions from three store location</a:t>
            </a:r>
            <a:r>
              <a:rPr lang="en-US" sz="2915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768377" y="4415648"/>
            <a:ext cx="4250716" cy="3290811"/>
            <a:chOff x="0" y="0"/>
            <a:chExt cx="1119530" cy="86671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19530" cy="866716"/>
            </a:xfrm>
            <a:custGeom>
              <a:avLst/>
              <a:gdLst/>
              <a:ahLst/>
              <a:cxnLst/>
              <a:rect r="r" b="b" t="t" l="l"/>
              <a:pathLst>
                <a:path h="866716" w="1119530">
                  <a:moveTo>
                    <a:pt x="54640" y="0"/>
                  </a:moveTo>
                  <a:lnTo>
                    <a:pt x="1064890" y="0"/>
                  </a:lnTo>
                  <a:cubicBezTo>
                    <a:pt x="1095067" y="0"/>
                    <a:pt x="1119530" y="24463"/>
                    <a:pt x="1119530" y="54640"/>
                  </a:cubicBezTo>
                  <a:lnTo>
                    <a:pt x="1119530" y="812076"/>
                  </a:lnTo>
                  <a:cubicBezTo>
                    <a:pt x="1119530" y="842253"/>
                    <a:pt x="1095067" y="866716"/>
                    <a:pt x="1064890" y="866716"/>
                  </a:cubicBezTo>
                  <a:lnTo>
                    <a:pt x="54640" y="866716"/>
                  </a:lnTo>
                  <a:cubicBezTo>
                    <a:pt x="24463" y="866716"/>
                    <a:pt x="0" y="842253"/>
                    <a:pt x="0" y="812076"/>
                  </a:cubicBezTo>
                  <a:lnTo>
                    <a:pt x="0" y="54640"/>
                  </a:lnTo>
                  <a:cubicBezTo>
                    <a:pt x="0" y="24463"/>
                    <a:pt x="24463" y="0"/>
                    <a:pt x="54640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119530" cy="91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9924019" y="4637268"/>
            <a:ext cx="3939431" cy="3069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1"/>
              </a:lnSpc>
            </a:pPr>
            <a:r>
              <a:rPr lang="en-US" sz="2915">
                <a:solidFill>
                  <a:srgbClr val="2D226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The goal is to understand sales patterns and build a model that predicts daily revenue.</a:t>
            </a:r>
          </a:p>
          <a:p>
            <a:pPr algn="l">
              <a:lnSpc>
                <a:spcPts val="408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3366111"/>
            <a:ext cx="4899276" cy="3623338"/>
          </a:xfrm>
          <a:custGeom>
            <a:avLst/>
            <a:gdLst/>
            <a:ahLst/>
            <a:cxnLst/>
            <a:rect r="r" b="b" t="t" l="l"/>
            <a:pathLst>
              <a:path h="3623338" w="4899276">
                <a:moveTo>
                  <a:pt x="0" y="0"/>
                </a:moveTo>
                <a:lnTo>
                  <a:pt x="4899276" y="0"/>
                </a:lnTo>
                <a:lnTo>
                  <a:pt x="4899276" y="3623338"/>
                </a:lnTo>
                <a:lnTo>
                  <a:pt x="0" y="3623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29683" y="4192515"/>
            <a:ext cx="9027518" cy="1502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6"/>
              </a:lnSpc>
            </a:pPr>
            <a:r>
              <a:rPr lang="en-US" sz="2161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How can we understand customer purchasing behavior and predict the daily revenue of the coffee shops?</a:t>
            </a:r>
          </a:p>
          <a:p>
            <a:pPr algn="l">
              <a:lnSpc>
                <a:spcPts val="3026"/>
              </a:lnSpc>
            </a:pPr>
          </a:p>
          <a:p>
            <a:pPr algn="l">
              <a:lnSpc>
                <a:spcPts val="3026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329683" y="6237048"/>
            <a:ext cx="7516956" cy="227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Explore sales patterns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Identify best-selling items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Analyze peak hours &amp; locations</a:t>
            </a:r>
          </a:p>
          <a:p>
            <a:pPr algn="l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B7ABE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Build ML model to predict daily revenue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7012657" y="3608087"/>
            <a:ext cx="5936813" cy="43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📌 Business Question: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012657" y="5681292"/>
            <a:ext cx="7748151" cy="43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🎯 Project Objectives: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02321" y="1839366"/>
            <a:ext cx="7283358" cy="983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8"/>
              </a:lnSpc>
            </a:pPr>
            <a:r>
              <a:rPr lang="en-US" b="true" sz="634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Problem Definition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2993540" y="-2095015"/>
            <a:ext cx="6727323" cy="4586811"/>
          </a:xfrm>
          <a:custGeom>
            <a:avLst/>
            <a:gdLst/>
            <a:ahLst/>
            <a:cxnLst/>
            <a:rect r="r" b="b" t="t" l="l"/>
            <a:pathLst>
              <a:path h="4586811" w="6727323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635325">
            <a:off x="-1442576" y="8071855"/>
            <a:ext cx="7907020" cy="6699403"/>
          </a:xfrm>
          <a:custGeom>
            <a:avLst/>
            <a:gdLst/>
            <a:ahLst/>
            <a:cxnLst/>
            <a:rect r="r" b="b" t="t" l="l"/>
            <a:pathLst>
              <a:path h="6699403" w="7907020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26878">
            <a:off x="-267547" y="148087"/>
            <a:ext cx="4576141" cy="2579280"/>
          </a:xfrm>
          <a:custGeom>
            <a:avLst/>
            <a:gdLst/>
            <a:ahLst/>
            <a:cxnLst/>
            <a:rect r="r" b="b" t="t" l="l"/>
            <a:pathLst>
              <a:path h="2579280" w="4576141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2830696">
            <a:off x="14939466" y="8144946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4475" y="952500"/>
            <a:ext cx="9759051" cy="72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99292" y="3954531"/>
            <a:ext cx="3499238" cy="3697518"/>
            <a:chOff x="0" y="0"/>
            <a:chExt cx="921610" cy="973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99292" y="3021124"/>
            <a:ext cx="3499238" cy="1866815"/>
            <a:chOff x="0" y="0"/>
            <a:chExt cx="921610" cy="491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1610" cy="491672"/>
            </a:xfrm>
            <a:custGeom>
              <a:avLst/>
              <a:gdLst/>
              <a:ahLst/>
              <a:cxnLst/>
              <a:rect r="r" b="b" t="t" l="l"/>
              <a:pathLst>
                <a:path h="49167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425298"/>
                  </a:lnTo>
                  <a:cubicBezTo>
                    <a:pt x="921610" y="461955"/>
                    <a:pt x="891893" y="491672"/>
                    <a:pt x="855236" y="491672"/>
                  </a:cubicBezTo>
                  <a:lnTo>
                    <a:pt x="66374" y="491672"/>
                  </a:lnTo>
                  <a:cubicBezTo>
                    <a:pt x="29717" y="491672"/>
                    <a:pt x="0" y="461955"/>
                    <a:pt x="0" y="42529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21610" cy="53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69326" y="3954531"/>
            <a:ext cx="3499238" cy="3697518"/>
            <a:chOff x="0" y="0"/>
            <a:chExt cx="921610" cy="9738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69326" y="3021124"/>
            <a:ext cx="3499238" cy="1866815"/>
            <a:chOff x="0" y="0"/>
            <a:chExt cx="921610" cy="491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1610" cy="491672"/>
            </a:xfrm>
            <a:custGeom>
              <a:avLst/>
              <a:gdLst/>
              <a:ahLst/>
              <a:cxnLst/>
              <a:rect r="r" b="b" t="t" l="l"/>
              <a:pathLst>
                <a:path h="49167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425298"/>
                  </a:lnTo>
                  <a:cubicBezTo>
                    <a:pt x="921610" y="461955"/>
                    <a:pt x="891893" y="491672"/>
                    <a:pt x="855236" y="491672"/>
                  </a:cubicBezTo>
                  <a:lnTo>
                    <a:pt x="66374" y="491672"/>
                  </a:lnTo>
                  <a:cubicBezTo>
                    <a:pt x="29717" y="491672"/>
                    <a:pt x="0" y="461955"/>
                    <a:pt x="0" y="42529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21610" cy="53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581734" y="2408715"/>
            <a:ext cx="11124532" cy="6758153"/>
          </a:xfrm>
          <a:custGeom>
            <a:avLst/>
            <a:gdLst/>
            <a:ahLst/>
            <a:cxnLst/>
            <a:rect r="r" b="b" t="t" l="l"/>
            <a:pathLst>
              <a:path h="6758153" w="11124532">
                <a:moveTo>
                  <a:pt x="0" y="0"/>
                </a:moveTo>
                <a:lnTo>
                  <a:pt x="11124532" y="0"/>
                </a:lnTo>
                <a:lnTo>
                  <a:pt x="11124532" y="6758153"/>
                </a:lnTo>
                <a:lnTo>
                  <a:pt x="0" y="675815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151780" y="3737394"/>
            <a:ext cx="2734329" cy="396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400">
                <a:solidFill>
                  <a:srgbClr val="FBFCF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4475" y="952500"/>
            <a:ext cx="9759051" cy="72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99292" y="3954531"/>
            <a:ext cx="3499238" cy="3697518"/>
            <a:chOff x="0" y="0"/>
            <a:chExt cx="921610" cy="973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99292" y="3021124"/>
            <a:ext cx="3499238" cy="1866815"/>
            <a:chOff x="0" y="0"/>
            <a:chExt cx="921610" cy="491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1610" cy="491672"/>
            </a:xfrm>
            <a:custGeom>
              <a:avLst/>
              <a:gdLst/>
              <a:ahLst/>
              <a:cxnLst/>
              <a:rect r="r" b="b" t="t" l="l"/>
              <a:pathLst>
                <a:path h="49167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425298"/>
                  </a:lnTo>
                  <a:cubicBezTo>
                    <a:pt x="921610" y="461955"/>
                    <a:pt x="891893" y="491672"/>
                    <a:pt x="855236" y="491672"/>
                  </a:cubicBezTo>
                  <a:lnTo>
                    <a:pt x="66374" y="491672"/>
                  </a:lnTo>
                  <a:cubicBezTo>
                    <a:pt x="29717" y="491672"/>
                    <a:pt x="0" y="461955"/>
                    <a:pt x="0" y="42529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21610" cy="53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69326" y="3954531"/>
            <a:ext cx="3499238" cy="3697518"/>
            <a:chOff x="0" y="0"/>
            <a:chExt cx="921610" cy="9738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69326" y="3021124"/>
            <a:ext cx="3499238" cy="1866815"/>
            <a:chOff x="0" y="0"/>
            <a:chExt cx="921610" cy="491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1610" cy="491672"/>
            </a:xfrm>
            <a:custGeom>
              <a:avLst/>
              <a:gdLst/>
              <a:ahLst/>
              <a:cxnLst/>
              <a:rect r="r" b="b" t="t" l="l"/>
              <a:pathLst>
                <a:path h="49167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425298"/>
                  </a:lnTo>
                  <a:cubicBezTo>
                    <a:pt x="921610" y="461955"/>
                    <a:pt x="891893" y="491672"/>
                    <a:pt x="855236" y="491672"/>
                  </a:cubicBezTo>
                  <a:lnTo>
                    <a:pt x="66374" y="491672"/>
                  </a:lnTo>
                  <a:cubicBezTo>
                    <a:pt x="29717" y="491672"/>
                    <a:pt x="0" y="461955"/>
                    <a:pt x="0" y="42529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21610" cy="53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376508" y="1929667"/>
            <a:ext cx="9534984" cy="7716249"/>
          </a:xfrm>
          <a:custGeom>
            <a:avLst/>
            <a:gdLst/>
            <a:ahLst/>
            <a:cxnLst/>
            <a:rect r="r" b="b" t="t" l="l"/>
            <a:pathLst>
              <a:path h="7716249" w="9534984">
                <a:moveTo>
                  <a:pt x="0" y="0"/>
                </a:moveTo>
                <a:lnTo>
                  <a:pt x="9534984" y="0"/>
                </a:lnTo>
                <a:lnTo>
                  <a:pt x="9534984" y="7716249"/>
                </a:lnTo>
                <a:lnTo>
                  <a:pt x="0" y="77162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4475" y="952500"/>
            <a:ext cx="9759051" cy="72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99292" y="3954531"/>
            <a:ext cx="3499238" cy="3697518"/>
            <a:chOff x="0" y="0"/>
            <a:chExt cx="921610" cy="973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99292" y="3021124"/>
            <a:ext cx="3499238" cy="1866815"/>
            <a:chOff x="0" y="0"/>
            <a:chExt cx="921610" cy="491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1610" cy="491672"/>
            </a:xfrm>
            <a:custGeom>
              <a:avLst/>
              <a:gdLst/>
              <a:ahLst/>
              <a:cxnLst/>
              <a:rect r="r" b="b" t="t" l="l"/>
              <a:pathLst>
                <a:path h="49167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425298"/>
                  </a:lnTo>
                  <a:cubicBezTo>
                    <a:pt x="921610" y="461955"/>
                    <a:pt x="891893" y="491672"/>
                    <a:pt x="855236" y="491672"/>
                  </a:cubicBezTo>
                  <a:lnTo>
                    <a:pt x="66374" y="491672"/>
                  </a:lnTo>
                  <a:cubicBezTo>
                    <a:pt x="29717" y="491672"/>
                    <a:pt x="0" y="461955"/>
                    <a:pt x="0" y="42529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21610" cy="53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69326" y="3954531"/>
            <a:ext cx="3499238" cy="3697518"/>
            <a:chOff x="0" y="0"/>
            <a:chExt cx="921610" cy="9738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69326" y="3021124"/>
            <a:ext cx="3499238" cy="1866815"/>
            <a:chOff x="0" y="0"/>
            <a:chExt cx="921610" cy="491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1610" cy="491672"/>
            </a:xfrm>
            <a:custGeom>
              <a:avLst/>
              <a:gdLst/>
              <a:ahLst/>
              <a:cxnLst/>
              <a:rect r="r" b="b" t="t" l="l"/>
              <a:pathLst>
                <a:path h="49167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425298"/>
                  </a:lnTo>
                  <a:cubicBezTo>
                    <a:pt x="921610" y="461955"/>
                    <a:pt x="891893" y="491672"/>
                    <a:pt x="855236" y="491672"/>
                  </a:cubicBezTo>
                  <a:lnTo>
                    <a:pt x="66374" y="491672"/>
                  </a:lnTo>
                  <a:cubicBezTo>
                    <a:pt x="29717" y="491672"/>
                    <a:pt x="0" y="461955"/>
                    <a:pt x="0" y="42529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21610" cy="53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016205" y="2509006"/>
            <a:ext cx="14255590" cy="6557572"/>
          </a:xfrm>
          <a:custGeom>
            <a:avLst/>
            <a:gdLst/>
            <a:ahLst/>
            <a:cxnLst/>
            <a:rect r="r" b="b" t="t" l="l"/>
            <a:pathLst>
              <a:path h="6557572" w="14255590">
                <a:moveTo>
                  <a:pt x="0" y="0"/>
                </a:moveTo>
                <a:lnTo>
                  <a:pt x="14255590" y="0"/>
                </a:lnTo>
                <a:lnTo>
                  <a:pt x="14255590" y="6557572"/>
                </a:lnTo>
                <a:lnTo>
                  <a:pt x="0" y="6557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4475" y="952500"/>
            <a:ext cx="9759051" cy="72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99292" y="3954531"/>
            <a:ext cx="3499238" cy="3697518"/>
            <a:chOff x="0" y="0"/>
            <a:chExt cx="921610" cy="973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99292" y="3021124"/>
            <a:ext cx="3499238" cy="1866815"/>
            <a:chOff x="0" y="0"/>
            <a:chExt cx="921610" cy="491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1610" cy="491672"/>
            </a:xfrm>
            <a:custGeom>
              <a:avLst/>
              <a:gdLst/>
              <a:ahLst/>
              <a:cxnLst/>
              <a:rect r="r" b="b" t="t" l="l"/>
              <a:pathLst>
                <a:path h="49167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425298"/>
                  </a:lnTo>
                  <a:cubicBezTo>
                    <a:pt x="921610" y="461955"/>
                    <a:pt x="891893" y="491672"/>
                    <a:pt x="855236" y="491672"/>
                  </a:cubicBezTo>
                  <a:lnTo>
                    <a:pt x="66374" y="491672"/>
                  </a:lnTo>
                  <a:cubicBezTo>
                    <a:pt x="29717" y="491672"/>
                    <a:pt x="0" y="461955"/>
                    <a:pt x="0" y="42529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21610" cy="53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69326" y="3954531"/>
            <a:ext cx="3499238" cy="3697518"/>
            <a:chOff x="0" y="0"/>
            <a:chExt cx="921610" cy="9738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69326" y="3021124"/>
            <a:ext cx="3499238" cy="1866815"/>
            <a:chOff x="0" y="0"/>
            <a:chExt cx="921610" cy="491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1610" cy="491672"/>
            </a:xfrm>
            <a:custGeom>
              <a:avLst/>
              <a:gdLst/>
              <a:ahLst/>
              <a:cxnLst/>
              <a:rect r="r" b="b" t="t" l="l"/>
              <a:pathLst>
                <a:path h="49167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425298"/>
                  </a:lnTo>
                  <a:cubicBezTo>
                    <a:pt x="921610" y="461955"/>
                    <a:pt x="891893" y="491672"/>
                    <a:pt x="855236" y="491672"/>
                  </a:cubicBezTo>
                  <a:lnTo>
                    <a:pt x="66374" y="491672"/>
                  </a:lnTo>
                  <a:cubicBezTo>
                    <a:pt x="29717" y="491672"/>
                    <a:pt x="0" y="461955"/>
                    <a:pt x="0" y="42529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21610" cy="53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69087" y="2078366"/>
            <a:ext cx="14949826" cy="7418851"/>
          </a:xfrm>
          <a:custGeom>
            <a:avLst/>
            <a:gdLst/>
            <a:ahLst/>
            <a:cxnLst/>
            <a:rect r="r" b="b" t="t" l="l"/>
            <a:pathLst>
              <a:path h="7418851" w="14949826">
                <a:moveTo>
                  <a:pt x="0" y="0"/>
                </a:moveTo>
                <a:lnTo>
                  <a:pt x="14949826" y="0"/>
                </a:lnTo>
                <a:lnTo>
                  <a:pt x="14949826" y="7418851"/>
                </a:lnTo>
                <a:lnTo>
                  <a:pt x="0" y="741885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4475" y="952500"/>
            <a:ext cx="9759051" cy="72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Dashboard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899292" y="3954531"/>
            <a:ext cx="3499238" cy="3697518"/>
            <a:chOff x="0" y="0"/>
            <a:chExt cx="921610" cy="9738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899292" y="3021124"/>
            <a:ext cx="3499238" cy="1866815"/>
            <a:chOff x="0" y="0"/>
            <a:chExt cx="921610" cy="491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21610" cy="491672"/>
            </a:xfrm>
            <a:custGeom>
              <a:avLst/>
              <a:gdLst/>
              <a:ahLst/>
              <a:cxnLst/>
              <a:rect r="r" b="b" t="t" l="l"/>
              <a:pathLst>
                <a:path h="49167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425298"/>
                  </a:lnTo>
                  <a:cubicBezTo>
                    <a:pt x="921610" y="461955"/>
                    <a:pt x="891893" y="491672"/>
                    <a:pt x="855236" y="491672"/>
                  </a:cubicBezTo>
                  <a:lnTo>
                    <a:pt x="66374" y="491672"/>
                  </a:lnTo>
                  <a:cubicBezTo>
                    <a:pt x="29717" y="491672"/>
                    <a:pt x="0" y="461955"/>
                    <a:pt x="0" y="42529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921610" cy="53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69326" y="3954531"/>
            <a:ext cx="3499238" cy="3697518"/>
            <a:chOff x="0" y="0"/>
            <a:chExt cx="921610" cy="97383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21610" cy="973832"/>
            </a:xfrm>
            <a:custGeom>
              <a:avLst/>
              <a:gdLst/>
              <a:ahLst/>
              <a:cxnLst/>
              <a:rect r="r" b="b" t="t" l="l"/>
              <a:pathLst>
                <a:path h="97383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907458"/>
                  </a:lnTo>
                  <a:cubicBezTo>
                    <a:pt x="921610" y="944115"/>
                    <a:pt x="891893" y="973832"/>
                    <a:pt x="855236" y="973832"/>
                  </a:cubicBezTo>
                  <a:lnTo>
                    <a:pt x="66374" y="973832"/>
                  </a:lnTo>
                  <a:cubicBezTo>
                    <a:pt x="29717" y="973832"/>
                    <a:pt x="0" y="944115"/>
                    <a:pt x="0" y="90745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ECE1D7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921610" cy="1021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769326" y="3021124"/>
            <a:ext cx="3499238" cy="1866815"/>
            <a:chOff x="0" y="0"/>
            <a:chExt cx="921610" cy="491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21610" cy="491672"/>
            </a:xfrm>
            <a:custGeom>
              <a:avLst/>
              <a:gdLst/>
              <a:ahLst/>
              <a:cxnLst/>
              <a:rect r="r" b="b" t="t" l="l"/>
              <a:pathLst>
                <a:path h="491672" w="921610">
                  <a:moveTo>
                    <a:pt x="66374" y="0"/>
                  </a:moveTo>
                  <a:lnTo>
                    <a:pt x="855236" y="0"/>
                  </a:lnTo>
                  <a:cubicBezTo>
                    <a:pt x="891893" y="0"/>
                    <a:pt x="921610" y="29717"/>
                    <a:pt x="921610" y="66374"/>
                  </a:cubicBezTo>
                  <a:lnTo>
                    <a:pt x="921610" y="425298"/>
                  </a:lnTo>
                  <a:cubicBezTo>
                    <a:pt x="921610" y="461955"/>
                    <a:pt x="891893" y="491672"/>
                    <a:pt x="855236" y="491672"/>
                  </a:cubicBezTo>
                  <a:lnTo>
                    <a:pt x="66374" y="491672"/>
                  </a:lnTo>
                  <a:cubicBezTo>
                    <a:pt x="29717" y="491672"/>
                    <a:pt x="0" y="461955"/>
                    <a:pt x="0" y="425298"/>
                  </a:cubicBezTo>
                  <a:lnTo>
                    <a:pt x="0" y="66374"/>
                  </a:lnTo>
                  <a:cubicBezTo>
                    <a:pt x="0" y="29717"/>
                    <a:pt x="29717" y="0"/>
                    <a:pt x="66374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21610" cy="5392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823935" y="2187081"/>
            <a:ext cx="12640130" cy="6715069"/>
          </a:xfrm>
          <a:custGeom>
            <a:avLst/>
            <a:gdLst/>
            <a:ahLst/>
            <a:cxnLst/>
            <a:rect r="r" b="b" t="t" l="l"/>
            <a:pathLst>
              <a:path h="6715069" w="12640130">
                <a:moveTo>
                  <a:pt x="0" y="0"/>
                </a:moveTo>
                <a:lnTo>
                  <a:pt x="12640130" y="0"/>
                </a:lnTo>
                <a:lnTo>
                  <a:pt x="12640130" y="6715069"/>
                </a:lnTo>
                <a:lnTo>
                  <a:pt x="0" y="671506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06042" y="2890381"/>
            <a:ext cx="1381570" cy="1381570"/>
          </a:xfrm>
          <a:custGeom>
            <a:avLst/>
            <a:gdLst/>
            <a:ahLst/>
            <a:cxnLst/>
            <a:rect r="r" b="b" t="t" l="l"/>
            <a:pathLst>
              <a:path h="1381570" w="1381570">
                <a:moveTo>
                  <a:pt x="0" y="0"/>
                </a:moveTo>
                <a:lnTo>
                  <a:pt x="1381571" y="0"/>
                </a:lnTo>
                <a:lnTo>
                  <a:pt x="1381571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706042" y="4679604"/>
            <a:ext cx="1381570" cy="1381570"/>
          </a:xfrm>
          <a:custGeom>
            <a:avLst/>
            <a:gdLst/>
            <a:ahLst/>
            <a:cxnLst/>
            <a:rect r="r" b="b" t="t" l="l"/>
            <a:pathLst>
              <a:path h="1381570" w="1381570">
                <a:moveTo>
                  <a:pt x="0" y="0"/>
                </a:moveTo>
                <a:lnTo>
                  <a:pt x="1381571" y="0"/>
                </a:lnTo>
                <a:lnTo>
                  <a:pt x="1381571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741276" y="6470749"/>
            <a:ext cx="1381570" cy="1381570"/>
          </a:xfrm>
          <a:custGeom>
            <a:avLst/>
            <a:gdLst/>
            <a:ahLst/>
            <a:cxnLst/>
            <a:rect r="r" b="b" t="t" l="l"/>
            <a:pathLst>
              <a:path h="1381570" w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882078" y="3066417"/>
            <a:ext cx="1029499" cy="102949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82078" y="4855639"/>
            <a:ext cx="1029499" cy="10294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17312" y="6646784"/>
            <a:ext cx="1029499" cy="10294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3366111"/>
            <a:ext cx="4899276" cy="3623338"/>
          </a:xfrm>
          <a:custGeom>
            <a:avLst/>
            <a:gdLst/>
            <a:ahLst/>
            <a:cxnLst/>
            <a:rect r="r" b="b" t="t" l="l"/>
            <a:pathLst>
              <a:path h="3623338" w="4899276">
                <a:moveTo>
                  <a:pt x="0" y="0"/>
                </a:moveTo>
                <a:lnTo>
                  <a:pt x="4899276" y="0"/>
                </a:lnTo>
                <a:lnTo>
                  <a:pt x="4899276" y="3623338"/>
                </a:lnTo>
                <a:lnTo>
                  <a:pt x="0" y="3623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356653" y="3360389"/>
            <a:ext cx="5936813" cy="43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Coffee dominates total sales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356653" y="5181832"/>
            <a:ext cx="7748151" cy="432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Peak sales occur in the morning hours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391886" y="6704971"/>
            <a:ext cx="5936813" cy="87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Revenue trends increase strongly over months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16915" y="3328170"/>
            <a:ext cx="959825" cy="4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b="true" sz="31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16915" y="5117392"/>
            <a:ext cx="959825" cy="4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b="true" sz="31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52148" y="6908537"/>
            <a:ext cx="959825" cy="4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b="true" sz="31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01135" y="1193267"/>
            <a:ext cx="6559765" cy="89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13"/>
              </a:lnSpc>
            </a:pPr>
            <a:r>
              <a:rPr lang="en-US" b="true" sz="5718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Key Insights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993540" y="-2095015"/>
            <a:ext cx="6727323" cy="4586811"/>
          </a:xfrm>
          <a:custGeom>
            <a:avLst/>
            <a:gdLst/>
            <a:ahLst/>
            <a:cxnLst/>
            <a:rect r="r" b="b" t="t" l="l"/>
            <a:pathLst>
              <a:path h="4586811" w="6727323">
                <a:moveTo>
                  <a:pt x="0" y="0"/>
                </a:moveTo>
                <a:lnTo>
                  <a:pt x="6727323" y="0"/>
                </a:lnTo>
                <a:lnTo>
                  <a:pt x="6727323" y="4586812"/>
                </a:lnTo>
                <a:lnTo>
                  <a:pt x="0" y="45868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635325">
            <a:off x="-1442576" y="8071855"/>
            <a:ext cx="7907020" cy="6699403"/>
          </a:xfrm>
          <a:custGeom>
            <a:avLst/>
            <a:gdLst/>
            <a:ahLst/>
            <a:cxnLst/>
            <a:rect r="r" b="b" t="t" l="l"/>
            <a:pathLst>
              <a:path h="6699403" w="7907020">
                <a:moveTo>
                  <a:pt x="0" y="0"/>
                </a:moveTo>
                <a:lnTo>
                  <a:pt x="7907020" y="0"/>
                </a:lnTo>
                <a:lnTo>
                  <a:pt x="7907020" y="6699403"/>
                </a:lnTo>
                <a:lnTo>
                  <a:pt x="0" y="66994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50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226878">
            <a:off x="-267547" y="148087"/>
            <a:ext cx="4576141" cy="2579280"/>
          </a:xfrm>
          <a:custGeom>
            <a:avLst/>
            <a:gdLst/>
            <a:ahLst/>
            <a:cxnLst/>
            <a:rect r="r" b="b" t="t" l="l"/>
            <a:pathLst>
              <a:path h="2579280" w="4576141">
                <a:moveTo>
                  <a:pt x="0" y="0"/>
                </a:moveTo>
                <a:lnTo>
                  <a:pt x="4576141" y="0"/>
                </a:lnTo>
                <a:lnTo>
                  <a:pt x="4576141" y="2579280"/>
                </a:lnTo>
                <a:lnTo>
                  <a:pt x="0" y="2579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2830696">
            <a:off x="14939466" y="8144946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741276" y="8307057"/>
            <a:ext cx="1381570" cy="1381570"/>
          </a:xfrm>
          <a:custGeom>
            <a:avLst/>
            <a:gdLst/>
            <a:ahLst/>
            <a:cxnLst/>
            <a:rect r="r" b="b" t="t" l="l"/>
            <a:pathLst>
              <a:path h="1381570" w="1381570">
                <a:moveTo>
                  <a:pt x="0" y="0"/>
                </a:moveTo>
                <a:lnTo>
                  <a:pt x="1381570" y="0"/>
                </a:lnTo>
                <a:lnTo>
                  <a:pt x="1381570" y="1381570"/>
                </a:lnTo>
                <a:lnTo>
                  <a:pt x="0" y="1381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917312" y="8433344"/>
            <a:ext cx="1029499" cy="1029499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8356653" y="8513189"/>
            <a:ext cx="5936813" cy="87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b="true" sz="27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Hell’s Kitchen &amp; Astoria outperform Lower Manhattan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156074" y="8700044"/>
            <a:ext cx="551974" cy="4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0"/>
              </a:lnSpc>
            </a:pPr>
            <a:r>
              <a:rPr lang="en-US" b="true" sz="3199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04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50125" y="1969387"/>
            <a:ext cx="9759051" cy="728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b="true" sz="4332">
                <a:solidFill>
                  <a:srgbClr val="2D2261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485196" y="3695606"/>
            <a:ext cx="10888907" cy="3758698"/>
            <a:chOff x="0" y="0"/>
            <a:chExt cx="2867860" cy="98994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67860" cy="989945"/>
            </a:xfrm>
            <a:custGeom>
              <a:avLst/>
              <a:gdLst/>
              <a:ahLst/>
              <a:cxnLst/>
              <a:rect r="r" b="b" t="t" l="l"/>
              <a:pathLst>
                <a:path h="989945" w="2867860">
                  <a:moveTo>
                    <a:pt x="21330" y="0"/>
                  </a:moveTo>
                  <a:lnTo>
                    <a:pt x="2846531" y="0"/>
                  </a:lnTo>
                  <a:cubicBezTo>
                    <a:pt x="2858311" y="0"/>
                    <a:pt x="2867860" y="9550"/>
                    <a:pt x="2867860" y="21330"/>
                  </a:cubicBezTo>
                  <a:lnTo>
                    <a:pt x="2867860" y="968615"/>
                  </a:lnTo>
                  <a:cubicBezTo>
                    <a:pt x="2867860" y="980395"/>
                    <a:pt x="2858311" y="989945"/>
                    <a:pt x="2846531" y="989945"/>
                  </a:cubicBezTo>
                  <a:lnTo>
                    <a:pt x="21330" y="989945"/>
                  </a:lnTo>
                  <a:cubicBezTo>
                    <a:pt x="9550" y="989945"/>
                    <a:pt x="0" y="980395"/>
                    <a:pt x="0" y="968615"/>
                  </a:cubicBezTo>
                  <a:lnTo>
                    <a:pt x="0" y="21330"/>
                  </a:lnTo>
                  <a:cubicBezTo>
                    <a:pt x="0" y="9550"/>
                    <a:pt x="9550" y="0"/>
                    <a:pt x="21330" y="0"/>
                  </a:cubicBezTo>
                  <a:close/>
                </a:path>
              </a:pathLst>
            </a:custGeom>
            <a:solidFill>
              <a:srgbClr val="5B7AB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867860" cy="10375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3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004341" y="4406399"/>
            <a:ext cx="10755738" cy="1952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2"/>
              </a:lnSpc>
            </a:pPr>
            <a:r>
              <a:rPr lang="en-US" b="true" sz="2816">
                <a:solidFill>
                  <a:srgbClr val="FBFCFE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The business is stable with strong morning demand and clear best-selling categories. coffee and Tea should remain the primary focus, while low-selling items could be bundled or promoted to improve performance.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080684">
            <a:off x="10082077" y="8242051"/>
            <a:ext cx="10960234" cy="7472887"/>
          </a:xfrm>
          <a:custGeom>
            <a:avLst/>
            <a:gdLst/>
            <a:ahLst/>
            <a:cxnLst/>
            <a:rect r="r" b="b" t="t" l="l"/>
            <a:pathLst>
              <a:path h="7472887" w="10960234">
                <a:moveTo>
                  <a:pt x="0" y="0"/>
                </a:moveTo>
                <a:lnTo>
                  <a:pt x="10960235" y="0"/>
                </a:lnTo>
                <a:lnTo>
                  <a:pt x="10960235" y="7472887"/>
                </a:lnTo>
                <a:lnTo>
                  <a:pt x="0" y="74728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426524">
            <a:off x="-3984660" y="-4765086"/>
            <a:ext cx="9442126" cy="8000056"/>
          </a:xfrm>
          <a:custGeom>
            <a:avLst/>
            <a:gdLst/>
            <a:ahLst/>
            <a:cxnLst/>
            <a:rect r="r" b="b" t="t" l="l"/>
            <a:pathLst>
              <a:path h="8000056" w="9442126">
                <a:moveTo>
                  <a:pt x="0" y="0"/>
                </a:moveTo>
                <a:lnTo>
                  <a:pt x="9442126" y="0"/>
                </a:lnTo>
                <a:lnTo>
                  <a:pt x="9442126" y="8000056"/>
                </a:lnTo>
                <a:lnTo>
                  <a:pt x="0" y="80000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624874">
            <a:off x="-884948" y="9077955"/>
            <a:ext cx="3242701" cy="1827704"/>
          </a:xfrm>
          <a:custGeom>
            <a:avLst/>
            <a:gdLst/>
            <a:ahLst/>
            <a:cxnLst/>
            <a:rect r="r" b="b" t="t" l="l"/>
            <a:pathLst>
              <a:path h="1827704" w="3242701">
                <a:moveTo>
                  <a:pt x="0" y="0"/>
                </a:moveTo>
                <a:lnTo>
                  <a:pt x="3242701" y="0"/>
                </a:lnTo>
                <a:lnTo>
                  <a:pt x="3242701" y="1827704"/>
                </a:lnTo>
                <a:lnTo>
                  <a:pt x="0" y="182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830696">
            <a:off x="16075185" y="-1028700"/>
            <a:ext cx="2835471" cy="4114800"/>
          </a:xfrm>
          <a:custGeom>
            <a:avLst/>
            <a:gdLst/>
            <a:ahLst/>
            <a:cxnLst/>
            <a:rect r="r" b="b" t="t" l="l"/>
            <a:pathLst>
              <a:path h="4114800" w="2835471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DAG6SkyXCbw</dc:identifier>
  <dcterms:modified xsi:type="dcterms:W3CDTF">2011-08-01T06:04:30Z</dcterms:modified>
  <cp:revision>1</cp:revision>
  <dc:title>Blue and Cream Illustrative SWOT Analysis Presentation</dc:title>
</cp:coreProperties>
</file>